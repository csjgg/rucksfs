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UCKSFS_MASTER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A3A5C"/>
          </a:solidFill>
          <a:ln w="7620">
            <a:solidFill>
              <a:srgbClr val="1A3A5C">
                <a:alpha val="0"/>
              </a:srgbClr>
            </a:solidFill>
            <a:prstDash val="solid"/>
          </a:ln>
        </p:spPr>
      </p:sp>
      <p:pic>
        <p:nvPicPr>
          <p:cNvPr id="5" name="Image 0" descr="/data/workspace/rucksfs/scripts/assets/h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8144" y="566928"/>
            <a:ext cx="3410953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847088"/>
            <a:ext cx="10058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采用元数据键值对存储的文件操作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设计与实现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4498848" y="3273552"/>
            <a:ext cx="3200400" cy="73152"/>
          </a:xfrm>
          <a:prstGeom prst="rect">
            <a:avLst/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81728" y="3493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880360" y="4983480"/>
            <a:ext cx="6446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学生：崔顺杰    学号：U202215522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院系：计算机科学与技术学院    班级：计科2206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指导教师：曹强    日期：2026年5月14日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47488" y="5916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华中科技大学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data/workspace/rucksfs/scripts/assets/h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8462"/>
            <a:ext cx="1325880" cy="2665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1828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背景与毕设目标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588752" y="192024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08792" y="16459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740664"/>
            <a:ext cx="11384280" cy="0"/>
          </a:xfrm>
          <a:prstGeom prst="line">
            <a:avLst/>
          </a:prstGeom>
          <a:noFill/>
          <a:ln w="8890">
            <a:solidFill>
              <a:srgbClr val="E8EB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6350">
            <a:solidFill>
              <a:srgbClr val="D9DD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5471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RucksFS 毕业设计答辩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8311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2/10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58368" y="1005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问题背景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8368" y="1389888"/>
            <a:ext cx="5230368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1691640"/>
            <a:ext cx="16916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1819656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60%–80%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097280" y="23500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元数据操作占文件系统 I/O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097280" y="2679192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 / open / readdir 等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788920" y="1691640"/>
            <a:ext cx="16916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35224" y="1819656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≥6 次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2953512" y="23500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 ext4 create 随机 I/O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953512" y="2679192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日志、inode、目录块等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932688" y="3246120"/>
            <a:ext cx="16916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78992" y="3374136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786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热点锁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1097280" y="390448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共享父目录串行化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097280" y="4233672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i_rwsem / 父 inode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971800" y="3319272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FFF3F3"/>
          </a:solidFill>
          <a:ln w="7620">
            <a:solidFill>
              <a:srgbClr val="F0C6C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54680" y="354787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18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传统页式/B+树路径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8F18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随机写 + 写放大 + 锁竞争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144768" y="3429000"/>
            <a:ext cx="685800" cy="0"/>
          </a:xfrm>
          <a:prstGeom prst="line">
            <a:avLst/>
          </a:prstGeom>
          <a:noFill/>
          <a:ln w="25400">
            <a:solidFill>
              <a:srgbClr val="C41E3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65392" y="3191256"/>
            <a:ext cx="411480" cy="457200"/>
          </a:xfrm>
          <a:prstGeom prst="chevron">
            <a:avLst/>
          </a:prstGeom>
          <a:solidFill>
            <a:srgbClr val="C41E3D"/>
          </a:solidFill>
          <a:ln w="12700">
            <a:solidFill>
              <a:srgbClr val="C41E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60920" y="1005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设计目标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178040" y="1389888"/>
            <a:ext cx="4343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98080" y="1947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0" y="1874520"/>
            <a:ext cx="342900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保持标准 POSIX 语义，应用无需改动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498080" y="26060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72400" y="2532888"/>
            <a:ext cx="342900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lookup 点查、readdir 前缀扫描、rename 常数步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498080" y="326440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772400" y="3191256"/>
            <a:ext cx="342900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事务保证并发目录操作正确性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498080" y="39227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772400" y="3849624"/>
            <a:ext cx="342900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DeltaOp 缓解共享父目录属性写热点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726680" y="4828032"/>
            <a:ext cx="3200400" cy="329184"/>
          </a:xfrm>
          <a:prstGeom prst="roundRect">
            <a:avLst>
              <a:gd name="adj" fmla="val 22222"/>
            </a:avLst>
          </a:prstGeom>
          <a:solidFill>
            <a:srgbClr val="1A3A5C"/>
          </a:solidFill>
          <a:ln w="7620">
            <a:solidFill>
              <a:srgbClr val="1A3A5C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726680" y="48920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KV / LSM-tree 元数据路径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data/workspace/rucksfs/scripts/assets/h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8462"/>
            <a:ext cx="1325880" cy="2665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1828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RucksFS 系统总体架构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588752" y="192024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08792" y="16459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740664"/>
            <a:ext cx="11384280" cy="0"/>
          </a:xfrm>
          <a:prstGeom prst="line">
            <a:avLst/>
          </a:prstGeom>
          <a:noFill/>
          <a:ln w="8890">
            <a:solidFill>
              <a:srgbClr val="E8EB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6350">
            <a:solidFill>
              <a:srgbClr val="D9DD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5471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RucksFS 毕业设计答辩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8311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3/10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94944" y="1078992"/>
            <a:ext cx="6995160" cy="5065776"/>
          </a:xfrm>
          <a:prstGeom prst="roundRect">
            <a:avLst>
              <a:gd name="adj" fmla="val 1444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pic>
        <p:nvPicPr>
          <p:cNvPr id="12" name="Image 1" descr="/data/workspace/rucksfs/docs/thesis-template/images/architecture_v5_exam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615745"/>
            <a:ext cx="6720840" cy="376367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9536" y="5843016"/>
            <a:ext cx="6665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FUSE 客户端、MetadataServer、DataServer 三段式结构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973568" y="1143000"/>
            <a:ext cx="121615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19872" y="1271016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Client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8138160" y="1801368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FUSE 请求入口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138160" y="213055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 + 编排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326880" y="1143000"/>
            <a:ext cx="121615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473184" y="1271016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MDS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9491472" y="1801368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元数据核心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9491472" y="213055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事务 + Delta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10680192" y="1143000"/>
            <a:ext cx="121615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826496" y="1271016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8F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DS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10844784" y="1801368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文件数据服务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10844784" y="213055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读写 + 截断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8092440" y="26791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366760" y="2606040"/>
            <a:ext cx="324612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客户端承接 Linux 内核 FUSE 请求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8092440" y="32461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366760" y="3172968"/>
            <a:ext cx="324612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MDS 管理 inode、目录项、事务和 DeltaOp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8092440" y="3813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366760" y="3739896"/>
            <a:ext cx="324612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DS 负责文件字节读写，当前为最小实现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8092440" y="43799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366760" y="4306824"/>
            <a:ext cx="324612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三者通过 gRPC 通信，职责边界清晰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8046720" y="5349240"/>
            <a:ext cx="3611880" cy="493776"/>
          </a:xfrm>
          <a:prstGeom prst="roundRect">
            <a:avLst>
              <a:gd name="adj" fmla="val 14815"/>
            </a:avLst>
          </a:prstGeom>
          <a:solidFill>
            <a:srgbClr val="FFF7F7"/>
          </a:solidFill>
          <a:ln w="7620">
            <a:solidFill>
              <a:srgbClr val="EFC7C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247888" y="55138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18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重点：元数据路径，而非完整生产级容错系统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data/workspace/rucksfs/scripts/assets/h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8462"/>
            <a:ext cx="1325880" cy="2665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1828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元数据存储模型：目录树映射到 KV 键空间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588752" y="192024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08792" y="16459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740664"/>
            <a:ext cx="11384280" cy="0"/>
          </a:xfrm>
          <a:prstGeom prst="line">
            <a:avLst/>
          </a:prstGeom>
          <a:noFill/>
          <a:ln w="8890">
            <a:solidFill>
              <a:srgbClr val="E8EB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6350">
            <a:solidFill>
              <a:srgbClr val="D9DD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5471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RucksFS 毕业设计答辩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8311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4/10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40080" y="1051560"/>
            <a:ext cx="736092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pic>
        <p:nvPicPr>
          <p:cNvPr id="12" name="Image 1" descr="/data/workspace/rucksfs/docs/thesis-template/images/key_mapp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786"/>
            <a:ext cx="7086600" cy="27694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4672" y="4974336"/>
            <a:ext cx="7031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路径树到 RocksDB 键空间的映射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59536" y="5468112"/>
            <a:ext cx="6903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" y="5650992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目录项键：</a:t>
            </a:r>
            <a:pPr algn="l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[D][parent_inode_BE][child_name]  </a:t>
            </a:r>
            <a:pPr algn="l" indent="0" marL="0">
              <a:buNone/>
            </a:pPr>
            <a:r>
              <a:rPr lang="en-US" sz="135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大端序保证同一父目录前缀连续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832104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列族划分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275320" y="1499616"/>
            <a:ext cx="33375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430768" y="1618488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inodes</a:t>
            </a:r>
            <a:endParaRPr lang="en-US" sz="970" dirty="0"/>
          </a:p>
        </p:txBody>
      </p:sp>
      <p:sp>
        <p:nvSpPr>
          <p:cNvPr id="19" name="Text 15"/>
          <p:cNvSpPr/>
          <p:nvPr/>
        </p:nvSpPr>
        <p:spPr>
          <a:xfrm>
            <a:off x="9674352" y="1600200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inode 属性、数据位置、符号链接</a:t>
            </a:r>
            <a:endParaRPr lang="en-US" sz="940" dirty="0"/>
          </a:p>
        </p:txBody>
      </p:sp>
      <p:sp>
        <p:nvSpPr>
          <p:cNvPr id="20" name="Shape 16"/>
          <p:cNvSpPr/>
          <p:nvPr/>
        </p:nvSpPr>
        <p:spPr>
          <a:xfrm>
            <a:off x="8275320" y="2231136"/>
            <a:ext cx="33375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430768" y="2350008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dir_entries</a:t>
            </a:r>
            <a:endParaRPr lang="en-US" sz="970" dirty="0"/>
          </a:p>
        </p:txBody>
      </p:sp>
      <p:sp>
        <p:nvSpPr>
          <p:cNvPr id="22" name="Text 18"/>
          <p:cNvSpPr/>
          <p:nvPr/>
        </p:nvSpPr>
        <p:spPr>
          <a:xfrm>
            <a:off x="9674352" y="2331720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目录项：父目录 → 子对象</a:t>
            </a:r>
            <a:endParaRPr lang="en-US" sz="940" dirty="0"/>
          </a:p>
        </p:txBody>
      </p:sp>
      <p:sp>
        <p:nvSpPr>
          <p:cNvPr id="23" name="Shape 19"/>
          <p:cNvSpPr/>
          <p:nvPr/>
        </p:nvSpPr>
        <p:spPr>
          <a:xfrm>
            <a:off x="8275320" y="2962656"/>
            <a:ext cx="33375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430768" y="3081528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delta_entries</a:t>
            </a:r>
            <a:endParaRPr lang="en-US" sz="970" dirty="0"/>
          </a:p>
        </p:txBody>
      </p:sp>
      <p:sp>
        <p:nvSpPr>
          <p:cNvPr id="25" name="Text 21"/>
          <p:cNvSpPr/>
          <p:nvPr/>
        </p:nvSpPr>
        <p:spPr>
          <a:xfrm>
            <a:off x="9674352" y="3063240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父目录属性增量记录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8275320" y="3694176"/>
            <a:ext cx="33375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30768" y="3813048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system</a:t>
            </a:r>
            <a:endParaRPr lang="en-US" sz="970" dirty="0"/>
          </a:p>
        </p:txBody>
      </p:sp>
      <p:sp>
        <p:nvSpPr>
          <p:cNvPr id="28" name="Text 24"/>
          <p:cNvSpPr/>
          <p:nvPr/>
        </p:nvSpPr>
        <p:spPr>
          <a:xfrm>
            <a:off x="9674352" y="3794760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inode 分配器等低频状态</a:t>
            </a:r>
            <a:endParaRPr lang="en-US" sz="940" dirty="0"/>
          </a:p>
        </p:txBody>
      </p:sp>
      <p:sp>
        <p:nvSpPr>
          <p:cNvPr id="29" name="Shape 25"/>
          <p:cNvSpPr/>
          <p:nvPr/>
        </p:nvSpPr>
        <p:spPr>
          <a:xfrm>
            <a:off x="8257032" y="4846320"/>
            <a:ext cx="987552" cy="329184"/>
          </a:xfrm>
          <a:prstGeom prst="roundRect">
            <a:avLst>
              <a:gd name="adj" fmla="val 22222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257032" y="491032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lookup 点查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9372600" y="4846320"/>
            <a:ext cx="1335024" cy="329184"/>
          </a:xfrm>
          <a:prstGeom prst="roundRect">
            <a:avLst>
              <a:gd name="adj" fmla="val 22222"/>
            </a:avLst>
          </a:prstGeom>
          <a:solidFill>
            <a:srgbClr val="1A3A5C"/>
          </a:solidFill>
          <a:ln w="7620">
            <a:solidFill>
              <a:srgbClr val="1A3A5C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372600" y="491032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readdir 前缀扫描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8851392" y="5358384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4E8F48"/>
          </a:solidFill>
          <a:ln w="7620">
            <a:solidFill>
              <a:srgbClr val="4E8F48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851392" y="54223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rename 常数步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data/workspace/rucksfs/scripts/assets/h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8462"/>
            <a:ext cx="1325880" cy="2665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1828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核心设计：DeltaOp 增量更新与懒折叠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588752" y="192024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08792" y="16459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740664"/>
            <a:ext cx="11384280" cy="0"/>
          </a:xfrm>
          <a:prstGeom prst="line">
            <a:avLst/>
          </a:prstGeom>
          <a:noFill/>
          <a:ln w="8890">
            <a:solidFill>
              <a:srgbClr val="E8EB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6350">
            <a:solidFill>
              <a:srgbClr val="D9DD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5471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RucksFS 毕业设计答辩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8311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5/10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40080" y="1005840"/>
            <a:ext cx="3127248" cy="513892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要解决的问题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32688" y="18562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7008" y="1783080"/>
            <a:ext cx="21945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create / unlink 需要更新父目录 mtime、ctime、nlink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32688" y="26060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" y="2532888"/>
            <a:ext cx="21945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朴素做法会读改写同一父 inode 键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32688" y="33558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07008" y="3282696"/>
            <a:ext cx="21945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共享父目录高并发下触发行锁等待和事务重试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32688" y="43891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FF3F3"/>
          </a:solidFill>
          <a:ln w="7620">
            <a:solidFill>
              <a:srgbClr val="EFC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51560" y="46360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18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思路：覆盖写 → 追加增量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005072" y="1005840"/>
            <a:ext cx="7543800" cy="5138928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pic>
        <p:nvPicPr>
          <p:cNvPr id="22" name="Image 1" descr="/data/workspace/rucksfs/docs/thesis-template/images/delta_lazy_f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1919312"/>
            <a:ext cx="7269480" cy="308338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169664" y="5843016"/>
            <a:ext cx="7214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写路径追加 DeltaOp，读路径合并，后台按阈值懒折叠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8778240" y="5413248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778240" y="54772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阈值 32 条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9985248" y="5413248"/>
            <a:ext cx="1261872" cy="329184"/>
          </a:xfrm>
          <a:prstGeom prst="roundRect">
            <a:avLst>
              <a:gd name="adj" fmla="val 22222"/>
            </a:avLst>
          </a:prstGeom>
          <a:solidFill>
            <a:srgbClr val="1A3A5C"/>
          </a:solidFill>
          <a:ln w="7620">
            <a:solidFill>
              <a:srgbClr val="1A3A5C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985248" y="547725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InodeFoldedCache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data/workspace/rucksfs/scripts/assets/h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8462"/>
            <a:ext cx="1325880" cy="2665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1828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并发正确性：悲观事务与排序加锁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588752" y="192024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08792" y="16459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740664"/>
            <a:ext cx="11384280" cy="0"/>
          </a:xfrm>
          <a:prstGeom prst="line">
            <a:avLst/>
          </a:prstGeom>
          <a:noFill/>
          <a:ln w="8890">
            <a:solidFill>
              <a:srgbClr val="E8EB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6350">
            <a:solidFill>
              <a:srgbClr val="D9DD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5471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RucksFS 毕业设计答辩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8311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6/10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94944" y="1115568"/>
            <a:ext cx="693115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pic>
        <p:nvPicPr>
          <p:cNvPr id="12" name="Image 1" descr="/data/workspace/rucksfs/docs/thesis-template/images/rename_lock_or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397685"/>
            <a:ext cx="6656832" cy="227040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9536" y="3877056"/>
            <a:ext cx="6601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rename 事务按 inode 编号升序加锁避免死锁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04672" y="4480560"/>
            <a:ext cx="671169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" y="471830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TOCTOU：</a:t>
            </a:r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如果检查目标是否存在、目录是否为空发生在事务外，并发 create/rename 可能改变检查结果。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005840" y="513892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解决：</a:t>
            </a:r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get_for_update 把检查和修改收进同一 RocksDB 悲观事务视图。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229600" y="1115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事务策略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275320" y="17373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549640" y="1664208"/>
            <a:ext cx="297180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AtomicWriteBatch：跨列族原子提交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8275320" y="23774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549640" y="2304288"/>
            <a:ext cx="297180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 inode 升序加锁：等待图无环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8275320" y="30175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549640" y="2944368"/>
            <a:ext cx="297180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冲突重试：50 μs 起始退避，最多 3 次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8275320" y="36576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549640" y="3584448"/>
            <a:ext cx="297180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失败边界清楚：最终映射为 EAGAIN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458200" y="4919472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04504" y="504748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rename</a:t>
            </a:r>
            <a:endParaRPr lang="en-US" sz="2600" dirty="0"/>
          </a:p>
        </p:txBody>
      </p:sp>
      <p:sp>
        <p:nvSpPr>
          <p:cNvPr id="28" name="Text 24"/>
          <p:cNvSpPr/>
          <p:nvPr/>
        </p:nvSpPr>
        <p:spPr>
          <a:xfrm>
            <a:off x="8622792" y="557784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最能体现事务设计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8622792" y="5907024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多对象原子切换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10076688" y="4919472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0222992" y="5047488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PCC</a:t>
            </a:r>
            <a:endParaRPr lang="en-US" sz="2600" dirty="0"/>
          </a:p>
        </p:txBody>
      </p:sp>
      <p:sp>
        <p:nvSpPr>
          <p:cNvPr id="32" name="Text 28"/>
          <p:cNvSpPr/>
          <p:nvPr/>
        </p:nvSpPr>
        <p:spPr>
          <a:xfrm>
            <a:off x="10241280" y="557784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悲观并发控制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10241280" y="5907024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避免检查失效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data/workspace/rucksfs/scripts/assets/h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8462"/>
            <a:ext cx="1325880" cy="2665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1828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系统实现与技术选择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588752" y="192024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08792" y="16459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740664"/>
            <a:ext cx="11384280" cy="0"/>
          </a:xfrm>
          <a:prstGeom prst="line">
            <a:avLst/>
          </a:prstGeom>
          <a:noFill/>
          <a:ln w="8890">
            <a:solidFill>
              <a:srgbClr val="E8EB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6350">
            <a:solidFill>
              <a:srgbClr val="D9DD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5471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RucksFS 毕业设计答辩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8311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7/10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841248" y="1042416"/>
            <a:ext cx="2788920" cy="493776"/>
          </a:xfrm>
          <a:prstGeom prst="roundRect">
            <a:avLst>
              <a:gd name="adj" fmla="val 14815"/>
            </a:avLst>
          </a:prstGeom>
          <a:solidFill>
            <a:srgbClr val="1A3A5C"/>
          </a:solidFill>
          <a:ln w="7620">
            <a:solidFill>
              <a:srgbClr val="1A3A5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1170432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FUSE 客户端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886200" y="1042416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41648" y="1170432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fuse3 + tokio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53912" y="1042416"/>
            <a:ext cx="5074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45936" y="1161288"/>
            <a:ext cx="4681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承接内核请求，异步编排 MDS / DS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41248" y="1801368"/>
            <a:ext cx="2788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1929384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RPC 通信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886200" y="1801368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41648" y="1929384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tonic / prost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53912" y="1801368"/>
            <a:ext cx="5074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45936" y="1920240"/>
            <a:ext cx="4681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gRPC 接口分层，多通道连接池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41248" y="2560320"/>
            <a:ext cx="2788920" cy="493776"/>
          </a:xfrm>
          <a:prstGeom prst="roundRect">
            <a:avLst>
              <a:gd name="adj" fmla="val 14815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" y="2688336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MetadataServer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886200" y="2560320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041648" y="2688336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RocksDB TransactionDB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153912" y="2560320"/>
            <a:ext cx="5074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45936" y="2679192"/>
            <a:ext cx="4681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inode / dir_entries / DeltaOp / PCC 事务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41248" y="3319272"/>
            <a:ext cx="2788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5840" y="3447288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DataServer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3886200" y="3319272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041648" y="3447288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RawDiskDataStore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153912" y="3319272"/>
            <a:ext cx="5074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45936" y="3438144"/>
            <a:ext cx="4681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固定偏移映射，聚焦元数据路径验证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41248" y="4078224"/>
            <a:ext cx="2788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05840" y="420624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语言与工程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3886200" y="4078224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41648" y="4206240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Rust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153912" y="4078224"/>
            <a:ext cx="5074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45936" y="4197096"/>
            <a:ext cx="4681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内存安全，适合并发基础设施原型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2240280" y="1572768"/>
            <a:ext cx="0" cy="2880360"/>
          </a:xfrm>
          <a:prstGeom prst="line">
            <a:avLst/>
          </a:prstGeom>
          <a:noFill/>
          <a:ln w="12700">
            <a:solidFill>
              <a:srgbClr val="C6CCD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41248" y="5257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实现边界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1874520" y="5074920"/>
            <a:ext cx="9345168" cy="713232"/>
          </a:xfrm>
          <a:prstGeom prst="roundRect">
            <a:avLst>
              <a:gd name="adj" fmla="val 10256"/>
            </a:avLst>
          </a:prstGeom>
          <a:solidFill>
            <a:srgbClr val="FFF8E8"/>
          </a:solidFill>
          <a:ln w="7620">
            <a:solidFill>
              <a:srgbClr val="F0D8A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103120" y="5285232"/>
            <a:ext cx="8887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当前原型保持“单 MDS + 单默认 DS”主路径：重点验证元数据建模、事务控制、客户端协调与 DeltaOp 优化；副本容错、元数据分片和空间回收作为后续工作。</a:t>
            </a:r>
            <a:endParaRPr lang="en-US" sz="12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data/workspace/rucksfs/scripts/assets/h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8462"/>
            <a:ext cx="1325880" cy="2665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1828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正确性验证：pjdfstest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588752" y="192024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08792" y="16459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740664"/>
            <a:ext cx="11384280" cy="0"/>
          </a:xfrm>
          <a:prstGeom prst="line">
            <a:avLst/>
          </a:prstGeom>
          <a:noFill/>
          <a:ln w="8890">
            <a:solidFill>
              <a:srgbClr val="E8EB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6350">
            <a:solidFill>
              <a:srgbClr val="D9DD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5471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RucksFS 毕业设计答辩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8311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8/10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841248" y="1207008"/>
            <a:ext cx="17373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1335024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398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005840" y="186537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pjdfstest 总用例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005840" y="2194560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 类系统调用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816352" y="1207008"/>
            <a:ext cx="18745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62656" y="133502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182/182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2980944" y="1865376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实现范围内全部通过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980944" y="2194560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分布式部署下验证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928616" y="1207008"/>
            <a:ext cx="15544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74920" y="1335024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8F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093208" y="186537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范围内通过率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093208" y="2194560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不是总用例伪装通过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41248" y="2944368"/>
            <a:ext cx="5641848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3200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范围划分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78992" y="358444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实现范围内</a:t>
            </a:r>
            <a:endParaRPr lang="en-US" sz="1070" dirty="0"/>
          </a:p>
        </p:txBody>
      </p:sp>
      <p:sp>
        <p:nvSpPr>
          <p:cNvPr id="26" name="Text 23"/>
          <p:cNvSpPr/>
          <p:nvPr/>
        </p:nvSpPr>
        <p:spPr>
          <a:xfrm>
            <a:off x="3337560" y="358444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182</a:t>
            </a:r>
            <a:endParaRPr lang="en-US" sz="1070" dirty="0"/>
          </a:p>
        </p:txBody>
      </p:sp>
      <p:sp>
        <p:nvSpPr>
          <p:cNvPr id="27" name="Text 24"/>
          <p:cNvSpPr/>
          <p:nvPr/>
        </p:nvSpPr>
        <p:spPr>
          <a:xfrm>
            <a:off x="4160520" y="358444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本课题选择实现的接口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1078992" y="39684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7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mknod / mkfifo 相关</a:t>
            </a:r>
            <a:endParaRPr lang="en-US" sz="1070" dirty="0"/>
          </a:p>
        </p:txBody>
      </p:sp>
      <p:sp>
        <p:nvSpPr>
          <p:cNvPr id="29" name="Text 26"/>
          <p:cNvSpPr/>
          <p:nvPr/>
        </p:nvSpPr>
        <p:spPr>
          <a:xfrm>
            <a:off x="3337560" y="396849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167</a:t>
            </a:r>
            <a:endParaRPr lang="en-US" sz="1070" dirty="0"/>
          </a:p>
        </p:txBody>
      </p:sp>
      <p:sp>
        <p:nvSpPr>
          <p:cNvPr id="30" name="Text 27"/>
          <p:cNvSpPr/>
          <p:nvPr/>
        </p:nvSpPr>
        <p:spPr>
          <a:xfrm>
            <a:off x="4160520" y="396849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显式返回 EOPNOTSUPP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1078992" y="435254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7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单文件大小上限</a:t>
            </a:r>
            <a:endParaRPr lang="en-US" sz="1070" dirty="0"/>
          </a:p>
        </p:txBody>
      </p:sp>
      <p:sp>
        <p:nvSpPr>
          <p:cNvPr id="32" name="Text 29"/>
          <p:cNvSpPr/>
          <p:nvPr/>
        </p:nvSpPr>
        <p:spPr>
          <a:xfrm>
            <a:off x="3337560" y="435254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70" dirty="0"/>
          </a:p>
        </p:txBody>
      </p:sp>
      <p:sp>
        <p:nvSpPr>
          <p:cNvPr id="33" name="Text 30"/>
          <p:cNvSpPr/>
          <p:nvPr/>
        </p:nvSpPr>
        <p:spPr>
          <a:xfrm>
            <a:off x="4160520" y="435254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DataServer 最小实现边界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1078992" y="47365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7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框架跳过项</a:t>
            </a:r>
            <a:endParaRPr lang="en-US" sz="1070" dirty="0"/>
          </a:p>
        </p:txBody>
      </p:sp>
      <p:sp>
        <p:nvSpPr>
          <p:cNvPr id="35" name="Text 32"/>
          <p:cNvSpPr/>
          <p:nvPr/>
        </p:nvSpPr>
        <p:spPr>
          <a:xfrm>
            <a:off x="3337560" y="47365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</a:t>
            </a:r>
            <a:endParaRPr lang="en-US" sz="1070" dirty="0"/>
          </a:p>
        </p:txBody>
      </p:sp>
      <p:sp>
        <p:nvSpPr>
          <p:cNvPr id="36" name="Text 33"/>
          <p:cNvSpPr/>
          <p:nvPr/>
        </p:nvSpPr>
        <p:spPr>
          <a:xfrm>
            <a:off x="4160520" y="47365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utimensat / remount 等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114032" y="1207008"/>
            <a:ext cx="44348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406640" y="15727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覆盖到的关键边界语义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7434072" y="21305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708392" y="2057400"/>
            <a:ext cx="342900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打开文件被 unlink 后延迟回收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7434072" y="26974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08392" y="2624328"/>
            <a:ext cx="342900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rename 覆盖多硬链接文件时只减少 nlink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7434072" y="326440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708392" y="3191256"/>
            <a:ext cx="342900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超长文件名错误码穿透 gRPC + FUSE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7434072" y="3831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708392" y="3758184"/>
            <a:ext cx="342900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rmdir 空目录检查纳入事务视图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7891272" y="4846320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1A3A5C"/>
          </a:solidFill>
          <a:ln w="7620">
            <a:solidFill>
              <a:srgbClr val="1A3A5C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891272" y="49103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正确性是性能结果的前提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data/workspace/rucksfs/scripts/assets/h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8462"/>
            <a:ext cx="1325880" cy="2665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1828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性能评估：横向对比（N=32 hard 模式）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588752" y="192024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08792" y="16459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740664"/>
            <a:ext cx="11384280" cy="0"/>
          </a:xfrm>
          <a:prstGeom prst="line">
            <a:avLst/>
          </a:prstGeom>
          <a:noFill/>
          <a:ln w="8890">
            <a:solidFill>
              <a:srgbClr val="E8EB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6350">
            <a:solidFill>
              <a:srgbClr val="D9DD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5471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RucksFS 毕业设计答辩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8311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9/10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713232" y="987552"/>
            <a:ext cx="3246120" cy="50749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12618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测试设置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87552" y="17739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61872" y="1700784"/>
            <a:ext cx="233172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台 64 核服务器 + 多台 2 核客户端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87552" y="241401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61872" y="2340864"/>
            <a:ext cx="233172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mdtest hard：共享父目录元数据压力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87552" y="305409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61872" y="2980944"/>
            <a:ext cx="233172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关闭客户端缓存，测量 MDS 真实路径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87552" y="36941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61872" y="3621024"/>
            <a:ext cx="233172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对比：RucksFS、NFS v4.2、JuiceFS+TiKV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987552" y="4864608"/>
            <a:ext cx="2514600" cy="530352"/>
          </a:xfrm>
          <a:prstGeom prst="roundRect">
            <a:avLst>
              <a:gd name="adj" fmla="val 13793"/>
            </a:avLst>
          </a:prstGeom>
          <a:solidFill>
            <a:srgbClr val="FFF3F3"/>
          </a:solidFill>
          <a:ln w="7620">
            <a:solidFill>
              <a:srgbClr val="EFC7C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5568" y="505663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18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结论只针对元数据高并发写入场景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297680" y="987552"/>
            <a:ext cx="7150608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17720" y="16733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create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709160" y="3358518"/>
            <a:ext cx="429768" cy="646554"/>
          </a:xfrm>
          <a:prstGeom prst="rect">
            <a:avLst/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63440" y="3175638"/>
            <a:ext cx="521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8035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4617720" y="4078224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RucksFS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5212080" y="3865622"/>
            <a:ext cx="429768" cy="139450"/>
          </a:xfrm>
          <a:prstGeom prst="rect">
            <a:avLst/>
          </a:prstGeom>
          <a:solidFill>
            <a:srgbClr val="1A3A5C"/>
          </a:solidFill>
          <a:ln w="7620">
            <a:solidFill>
              <a:srgbClr val="1A3A5C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66360" y="3682742"/>
            <a:ext cx="521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1733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5120640" y="4078224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NFS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715000" y="3626071"/>
            <a:ext cx="429768" cy="379001"/>
          </a:xfrm>
          <a:prstGeom prst="rect">
            <a:avLst/>
          </a:prstGeom>
          <a:solidFill>
            <a:srgbClr val="D7862E"/>
          </a:solidFill>
          <a:ln w="7620">
            <a:solidFill>
              <a:srgbClr val="D7862E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0" y="3443191"/>
            <a:ext cx="521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786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4710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5623560" y="4078224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JuiceFS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617720" y="4005072"/>
            <a:ext cx="1691640" cy="0"/>
          </a:xfrm>
          <a:prstGeom prst="line">
            <a:avLst/>
          </a:prstGeom>
          <a:noFill/>
          <a:ln w="7620">
            <a:solidFill>
              <a:srgbClr val="BFC6C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84848" y="16733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876288" y="3199837"/>
            <a:ext cx="429768" cy="805235"/>
          </a:xfrm>
          <a:prstGeom prst="rect">
            <a:avLst/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30568" y="3016957"/>
            <a:ext cx="521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10007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6784848" y="4078224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RucksFS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7379208" y="2017854"/>
            <a:ext cx="429768" cy="1987218"/>
          </a:xfrm>
          <a:prstGeom prst="rect">
            <a:avLst/>
          </a:prstGeom>
          <a:solidFill>
            <a:srgbClr val="1A3A5C"/>
          </a:solidFill>
          <a:ln w="7620">
            <a:solidFill>
              <a:srgbClr val="1A3A5C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333488" y="1834974"/>
            <a:ext cx="521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24696</a:t>
            </a:r>
            <a:endParaRPr lang="en-US" sz="720" dirty="0"/>
          </a:p>
        </p:txBody>
      </p:sp>
      <p:sp>
        <p:nvSpPr>
          <p:cNvPr id="41" name="Text 38"/>
          <p:cNvSpPr/>
          <p:nvPr/>
        </p:nvSpPr>
        <p:spPr>
          <a:xfrm>
            <a:off x="7287768" y="4078224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NFS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7882128" y="3359564"/>
            <a:ext cx="429768" cy="645508"/>
          </a:xfrm>
          <a:prstGeom prst="rect">
            <a:avLst/>
          </a:prstGeom>
          <a:solidFill>
            <a:srgbClr val="D7862E"/>
          </a:solidFill>
          <a:ln w="7620">
            <a:solidFill>
              <a:srgbClr val="D7862E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836408" y="3176684"/>
            <a:ext cx="521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786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8022</a:t>
            </a:r>
            <a:endParaRPr lang="en-US" sz="720" dirty="0"/>
          </a:p>
        </p:txBody>
      </p:sp>
      <p:sp>
        <p:nvSpPr>
          <p:cNvPr id="44" name="Text 41"/>
          <p:cNvSpPr/>
          <p:nvPr/>
        </p:nvSpPr>
        <p:spPr>
          <a:xfrm>
            <a:off x="7790688" y="4078224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JuiceFS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6784848" y="4005072"/>
            <a:ext cx="1691640" cy="0"/>
          </a:xfrm>
          <a:prstGeom prst="line">
            <a:avLst/>
          </a:prstGeom>
          <a:noFill/>
          <a:ln w="7620">
            <a:solidFill>
              <a:srgbClr val="BFC6C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942832" y="16733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remove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9034272" y="3341620"/>
            <a:ext cx="429768" cy="663452"/>
          </a:xfrm>
          <a:prstGeom prst="rect">
            <a:avLst/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988552" y="3158740"/>
            <a:ext cx="521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8245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8942832" y="4078224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RucksFS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9537192" y="3547857"/>
            <a:ext cx="429768" cy="457215"/>
          </a:xfrm>
          <a:prstGeom prst="rect">
            <a:avLst/>
          </a:prstGeom>
          <a:solidFill>
            <a:srgbClr val="1A3A5C"/>
          </a:solidFill>
          <a:ln w="7620">
            <a:solidFill>
              <a:srgbClr val="1A3A5C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491472" y="3364977"/>
            <a:ext cx="521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5682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9445752" y="4078224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NFS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10040112" y="3705090"/>
            <a:ext cx="429768" cy="299982"/>
          </a:xfrm>
          <a:prstGeom prst="rect">
            <a:avLst/>
          </a:prstGeom>
          <a:solidFill>
            <a:srgbClr val="D7862E"/>
          </a:solidFill>
          <a:ln w="7620">
            <a:solidFill>
              <a:srgbClr val="D7862E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994392" y="3522210"/>
            <a:ext cx="521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786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3728</a:t>
            </a:r>
            <a:endParaRPr lang="en-US" sz="720" dirty="0"/>
          </a:p>
        </p:txBody>
      </p:sp>
      <p:sp>
        <p:nvSpPr>
          <p:cNvPr id="55" name="Text 52"/>
          <p:cNvSpPr/>
          <p:nvPr/>
        </p:nvSpPr>
        <p:spPr>
          <a:xfrm>
            <a:off x="9948672" y="4078224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JuiceFS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8942832" y="4005072"/>
            <a:ext cx="1691640" cy="0"/>
          </a:xfrm>
          <a:prstGeom prst="line">
            <a:avLst/>
          </a:prstGeom>
          <a:noFill/>
          <a:ln w="7620">
            <a:solidFill>
              <a:srgbClr val="BFC6C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784080" y="12618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吞吐量单位：ops/s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681728" y="498348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FFF3F3"/>
          </a:solidFill>
          <a:ln w="7620">
            <a:solidFill>
              <a:srgbClr val="EFC7C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864608" y="517550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8F18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create 相对 NFS：4.64×</a:t>
            </a:r>
            <a:endParaRPr lang="en-US" sz="1080" dirty="0"/>
          </a:p>
        </p:txBody>
      </p:sp>
      <p:sp>
        <p:nvSpPr>
          <p:cNvPr id="60" name="Shape 57"/>
          <p:cNvSpPr/>
          <p:nvPr/>
        </p:nvSpPr>
        <p:spPr>
          <a:xfrm>
            <a:off x="6931152" y="498348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F1F6FB"/>
          </a:solidFill>
          <a:ln w="7620">
            <a:solidFill>
              <a:srgbClr val="CAD8E6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114032" y="5175504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stat：NFS 领先，承认 LSM 读路径代价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data/workspace/rucksfs/scripts/assets/h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8462"/>
            <a:ext cx="1325880" cy="2665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1828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DeltaOp 对照实验与工作总结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588752" y="192024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08792" y="16459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740664"/>
            <a:ext cx="11384280" cy="0"/>
          </a:xfrm>
          <a:prstGeom prst="line">
            <a:avLst/>
          </a:prstGeom>
          <a:noFill/>
          <a:ln w="8890">
            <a:solidFill>
              <a:srgbClr val="E8EB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6350">
            <a:solidFill>
              <a:srgbClr val="D9DD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5471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RucksFS 毕业设计答辩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8311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10/10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713232" y="987552"/>
            <a:ext cx="6172200" cy="4187952"/>
          </a:xfrm>
          <a:prstGeom prst="roundRect">
            <a:avLst>
              <a:gd name="adj" fmla="val 1747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07592" y="4581144"/>
            <a:ext cx="5257800" cy="0"/>
          </a:xfrm>
          <a:prstGeom prst="line">
            <a:avLst/>
          </a:prstGeom>
          <a:noFill/>
          <a:ln w="5715">
            <a:solidFill>
              <a:srgbClr val="E7EB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45079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1307592" y="3785616"/>
            <a:ext cx="5257800" cy="0"/>
          </a:xfrm>
          <a:prstGeom prst="line">
            <a:avLst/>
          </a:prstGeom>
          <a:noFill/>
          <a:ln w="5715">
            <a:solidFill>
              <a:srgbClr val="E7EB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" y="371246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10000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1307592" y="2990088"/>
            <a:ext cx="5257800" cy="0"/>
          </a:xfrm>
          <a:prstGeom prst="line">
            <a:avLst/>
          </a:prstGeom>
          <a:noFill/>
          <a:ln w="5715">
            <a:solidFill>
              <a:srgbClr val="E7EB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" y="29169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20000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1307592" y="2194560"/>
            <a:ext cx="5257800" cy="0"/>
          </a:xfrm>
          <a:prstGeom prst="line">
            <a:avLst/>
          </a:prstGeom>
          <a:noFill/>
          <a:ln w="5715">
            <a:solidFill>
              <a:srgbClr val="E7EB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" y="212140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30000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1307592" y="1399032"/>
            <a:ext cx="5257800" cy="0"/>
          </a:xfrm>
          <a:prstGeom prst="line">
            <a:avLst/>
          </a:prstGeom>
          <a:noFill/>
          <a:ln w="5715">
            <a:solidFill>
              <a:srgbClr val="E7EB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4672" y="13258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40000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1307592" y="4581144"/>
            <a:ext cx="5257800" cy="0"/>
          </a:xfrm>
          <a:prstGeom prst="line">
            <a:avLst/>
          </a:prstGeom>
          <a:noFill/>
          <a:ln w="10160">
            <a:solidFill>
              <a:srgbClr val="AEB7C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307592" y="1399032"/>
            <a:ext cx="0" cy="3182112"/>
          </a:xfrm>
          <a:prstGeom prst="line">
            <a:avLst/>
          </a:prstGeom>
          <a:noFill/>
          <a:ln w="10160">
            <a:solidFill>
              <a:srgbClr val="AEB7C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07592" y="3409649"/>
            <a:ext cx="1051560" cy="-465225"/>
          </a:xfrm>
          <a:prstGeom prst="line">
            <a:avLst/>
          </a:prstGeom>
          <a:noFill/>
          <a:ln w="27940">
            <a:solidFill>
              <a:srgbClr val="C41E3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359152" y="2944425"/>
            <a:ext cx="1051560" cy="-196336"/>
          </a:xfrm>
          <a:prstGeom prst="line">
            <a:avLst/>
          </a:prstGeom>
          <a:noFill/>
          <a:ln w="27940">
            <a:solidFill>
              <a:srgbClr val="C41E3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10712" y="2748088"/>
            <a:ext cx="1051560" cy="-521866"/>
          </a:xfrm>
          <a:prstGeom prst="line">
            <a:avLst/>
          </a:prstGeom>
          <a:noFill/>
          <a:ln w="27940">
            <a:solidFill>
              <a:srgbClr val="C41E3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462272" y="2226222"/>
            <a:ext cx="1051560" cy="-10501"/>
          </a:xfrm>
          <a:prstGeom prst="line">
            <a:avLst/>
          </a:prstGeom>
          <a:noFill/>
          <a:ln w="27940">
            <a:solidFill>
              <a:srgbClr val="C41E3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13832" y="2215721"/>
            <a:ext cx="1051560" cy="-664027"/>
          </a:xfrm>
          <a:prstGeom prst="line">
            <a:avLst/>
          </a:prstGeom>
          <a:noFill/>
          <a:ln w="27940">
            <a:solidFill>
              <a:srgbClr val="C41E3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257300" y="3359357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308860" y="2894133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360420" y="2697796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11980" y="2175930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63540" y="2165429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15100" y="1501402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307592" y="3405910"/>
            <a:ext cx="1051560" cy="-453928"/>
          </a:xfrm>
          <a:prstGeom prst="line">
            <a:avLst/>
          </a:prstGeom>
          <a:noFill/>
          <a:ln w="27940">
            <a:solidFill>
              <a:srgbClr val="1A3A5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59152" y="2951982"/>
            <a:ext cx="1051560" cy="580735"/>
          </a:xfrm>
          <a:prstGeom prst="line">
            <a:avLst/>
          </a:prstGeom>
          <a:noFill/>
          <a:ln w="27940">
            <a:solidFill>
              <a:srgbClr val="1A3A5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410712" y="3532718"/>
            <a:ext cx="1051560" cy="117420"/>
          </a:xfrm>
          <a:prstGeom prst="line">
            <a:avLst/>
          </a:prstGeom>
          <a:noFill/>
          <a:ln w="27940">
            <a:solidFill>
              <a:srgbClr val="1A3A5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462272" y="3650138"/>
            <a:ext cx="1051560" cy="-22434"/>
          </a:xfrm>
          <a:prstGeom prst="line">
            <a:avLst/>
          </a:prstGeom>
          <a:noFill/>
          <a:ln w="27940">
            <a:solidFill>
              <a:srgbClr val="1A3A5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513832" y="3627704"/>
            <a:ext cx="1051560" cy="-69211"/>
          </a:xfrm>
          <a:prstGeom prst="line">
            <a:avLst/>
          </a:prstGeom>
          <a:noFill/>
          <a:ln w="27940">
            <a:solidFill>
              <a:srgbClr val="1A3A5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257300" y="3355618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1A3A5C"/>
          </a:solidFill>
          <a:ln w="7620">
            <a:solidFill>
              <a:srgbClr val="1A3A5C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08860" y="2901690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1A3A5C"/>
          </a:solidFill>
          <a:ln w="7620">
            <a:solidFill>
              <a:srgbClr val="1A3A5C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360420" y="3482426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1A3A5C"/>
          </a:solidFill>
          <a:ln w="7620">
            <a:solidFill>
              <a:srgbClr val="1A3A5C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411980" y="3599846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1A3A5C"/>
          </a:solidFill>
          <a:ln w="7620">
            <a:solidFill>
              <a:srgbClr val="1A3A5C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463540" y="3577412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1A3A5C"/>
          </a:solidFill>
          <a:ln w="7620">
            <a:solidFill>
              <a:srgbClr val="1A3A5C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515100" y="3508201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1A3A5C"/>
          </a:solidFill>
          <a:ln w="7620">
            <a:solidFill>
              <a:srgbClr val="1A3A5C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143000" y="469087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64</a:t>
            </a:r>
            <a:endParaRPr lang="en-US" sz="680" dirty="0"/>
          </a:p>
        </p:txBody>
      </p:sp>
      <p:sp>
        <p:nvSpPr>
          <p:cNvPr id="47" name="Text 44"/>
          <p:cNvSpPr/>
          <p:nvPr/>
        </p:nvSpPr>
        <p:spPr>
          <a:xfrm>
            <a:off x="2194560" y="469087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96</a:t>
            </a:r>
            <a:endParaRPr lang="en-US" sz="680" dirty="0"/>
          </a:p>
        </p:txBody>
      </p:sp>
      <p:sp>
        <p:nvSpPr>
          <p:cNvPr id="48" name="Text 45"/>
          <p:cNvSpPr/>
          <p:nvPr/>
        </p:nvSpPr>
        <p:spPr>
          <a:xfrm>
            <a:off x="3246120" y="469087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128</a:t>
            </a:r>
            <a:endParaRPr lang="en-US" sz="680" dirty="0"/>
          </a:p>
        </p:txBody>
      </p:sp>
      <p:sp>
        <p:nvSpPr>
          <p:cNvPr id="49" name="Text 46"/>
          <p:cNvSpPr/>
          <p:nvPr/>
        </p:nvSpPr>
        <p:spPr>
          <a:xfrm>
            <a:off x="4297680" y="469087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192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5349240" y="469087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256</a:t>
            </a:r>
            <a:endParaRPr lang="en-US" sz="680" dirty="0"/>
          </a:p>
        </p:txBody>
      </p:sp>
      <p:sp>
        <p:nvSpPr>
          <p:cNvPr id="51" name="Text 48"/>
          <p:cNvSpPr/>
          <p:nvPr/>
        </p:nvSpPr>
        <p:spPr>
          <a:xfrm>
            <a:off x="6400800" y="469087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384</a:t>
            </a:r>
            <a:endParaRPr lang="en-US" sz="680" dirty="0"/>
          </a:p>
        </p:txBody>
      </p:sp>
      <p:sp>
        <p:nvSpPr>
          <p:cNvPr id="52" name="Text 49"/>
          <p:cNvSpPr/>
          <p:nvPr/>
        </p:nvSpPr>
        <p:spPr>
          <a:xfrm>
            <a:off x="3387852" y="491947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并发 rank 数 np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822960" y="10789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Create 吞吐 (ops/s)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5193792" y="1152144"/>
            <a:ext cx="137160" cy="82296"/>
          </a:xfrm>
          <a:prstGeom prst="rect">
            <a:avLst/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394960" y="111556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Delta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5925312" y="1152144"/>
            <a:ext cx="137160" cy="82296"/>
          </a:xfrm>
          <a:prstGeom prst="rect">
            <a:avLst/>
          </a:prstGeom>
          <a:solidFill>
            <a:srgbClr val="1A3A5C"/>
          </a:solidFill>
          <a:ln w="7620">
            <a:solidFill>
              <a:srgbClr val="1A3A5C">
                <a:alpha val="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126480" y="1115568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NoDelta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7269480" y="1060704"/>
            <a:ext cx="1463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415784" y="118872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2.96×</a:t>
            </a:r>
            <a:endParaRPr lang="en-US" sz="2600" dirty="0"/>
          </a:p>
        </p:txBody>
      </p:sp>
      <p:sp>
        <p:nvSpPr>
          <p:cNvPr id="60" name="Text 57"/>
          <p:cNvSpPr/>
          <p:nvPr/>
        </p:nvSpPr>
        <p:spPr>
          <a:xfrm>
            <a:off x="7434072" y="171907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np=384 create</a:t>
            </a:r>
            <a:endParaRPr lang="en-US" sz="1150" dirty="0"/>
          </a:p>
        </p:txBody>
      </p:sp>
      <p:sp>
        <p:nvSpPr>
          <p:cNvPr id="61" name="Text 58"/>
          <p:cNvSpPr/>
          <p:nvPr/>
        </p:nvSpPr>
        <p:spPr>
          <a:xfrm>
            <a:off x="7434072" y="2048256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38081 vs 12855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8915400" y="1060704"/>
            <a:ext cx="1463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061704" y="118872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2.63×</a:t>
            </a:r>
            <a:endParaRPr lang="en-US" sz="2600" dirty="0"/>
          </a:p>
        </p:txBody>
      </p:sp>
      <p:sp>
        <p:nvSpPr>
          <p:cNvPr id="64" name="Text 61"/>
          <p:cNvSpPr/>
          <p:nvPr/>
        </p:nvSpPr>
        <p:spPr>
          <a:xfrm>
            <a:off x="9079992" y="171907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np=384 remove</a:t>
            </a:r>
            <a:endParaRPr lang="en-US" sz="1150" dirty="0"/>
          </a:p>
        </p:txBody>
      </p:sp>
      <p:sp>
        <p:nvSpPr>
          <p:cNvPr id="65" name="Text 62"/>
          <p:cNvSpPr/>
          <p:nvPr/>
        </p:nvSpPr>
        <p:spPr>
          <a:xfrm>
            <a:off x="9079992" y="2048256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32882 vs 12500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10561320" y="1060704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7620">
            <a:solidFill>
              <a:srgbClr val="DDE2E8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0707624" y="1188720"/>
            <a:ext cx="94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≈1.00×</a:t>
            </a:r>
            <a:endParaRPr lang="en-US" sz="2600" dirty="0"/>
          </a:p>
        </p:txBody>
      </p:sp>
      <p:sp>
        <p:nvSpPr>
          <p:cNvPr id="68" name="Text 65"/>
          <p:cNvSpPr/>
          <p:nvPr/>
        </p:nvSpPr>
        <p:spPr>
          <a:xfrm>
            <a:off x="10725912" y="1719072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低并发无明显差异</a:t>
            </a:r>
            <a:endParaRPr lang="en-US" sz="1150" dirty="0"/>
          </a:p>
        </p:txBody>
      </p:sp>
      <p:sp>
        <p:nvSpPr>
          <p:cNvPr id="69" name="Text 66"/>
          <p:cNvSpPr/>
          <p:nvPr/>
        </p:nvSpPr>
        <p:spPr>
          <a:xfrm>
            <a:off x="10725912" y="204825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np ≤ 96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7269480" y="2487168"/>
            <a:ext cx="4526280" cy="950976"/>
          </a:xfrm>
          <a:prstGeom prst="roundRect">
            <a:avLst>
              <a:gd name="adj" fmla="val 7692"/>
            </a:avLst>
          </a:prstGeom>
          <a:solidFill>
            <a:srgbClr val="FFF8E8"/>
          </a:solidFill>
          <a:ln w="7620">
            <a:solidFill>
              <a:srgbClr val="F0D8A8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479792" y="2761488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解释：DeltaOp 不是所有场景都提升；它针对的是共享父目录高并发下的父 inode 写锁争用。</a:t>
            </a:r>
            <a:endParaRPr lang="en-US" sz="1180" dirty="0"/>
          </a:p>
        </p:txBody>
      </p:sp>
      <p:sp>
        <p:nvSpPr>
          <p:cNvPr id="72" name="Text 69"/>
          <p:cNvSpPr/>
          <p:nvPr/>
        </p:nvSpPr>
        <p:spPr>
          <a:xfrm>
            <a:off x="7315200" y="39136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1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工作总结</a:t>
            </a:r>
            <a:endParaRPr lang="en-US" sz="1500" dirty="0"/>
          </a:p>
        </p:txBody>
      </p:sp>
      <p:sp>
        <p:nvSpPr>
          <p:cNvPr id="73" name="Shape 70"/>
          <p:cNvSpPr/>
          <p:nvPr/>
        </p:nvSpPr>
        <p:spPr>
          <a:xfrm>
            <a:off x="7333488" y="43891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607808" y="4315968"/>
            <a:ext cx="40233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实现基于 RocksDB 多列族的 FUSE 文件系统原型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7333488" y="486460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607808" y="4791456"/>
            <a:ext cx="40233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完成边心键编码、DeltaOp、PCC 事务等核心路径</a:t>
            </a:r>
            <a:endParaRPr lang="en-US" sz="1300" dirty="0"/>
          </a:p>
        </p:txBody>
      </p:sp>
      <p:sp>
        <p:nvSpPr>
          <p:cNvPr id="77" name="Shape 74"/>
          <p:cNvSpPr/>
          <p:nvPr/>
        </p:nvSpPr>
        <p:spPr>
          <a:xfrm>
            <a:off x="7333488" y="534009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7607808" y="5266944"/>
            <a:ext cx="40233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pjdfstest 范围内全部通过，mdtest 验证高并发收益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7333488" y="58155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1E3D"/>
          </a:solidFill>
          <a:ln w="7620">
            <a:solidFill>
              <a:srgbClr val="C41E3D">
                <a:alpha val="0"/>
              </a:srgbClr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607808" y="5742432"/>
            <a:ext cx="40233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不足：DataServer 最小实现、缓存和 RPC 合并仍可改进</a:t>
            </a:r>
            <a:endParaRPr lang="en-US" sz="1300" dirty="0"/>
          </a:p>
        </p:txBody>
      </p:sp>
      <p:sp>
        <p:nvSpPr>
          <p:cNvPr id="81" name="Shape 78"/>
          <p:cNvSpPr/>
          <p:nvPr/>
        </p:nvSpPr>
        <p:spPr>
          <a:xfrm>
            <a:off x="877824" y="5440680"/>
            <a:ext cx="5669280" cy="429768"/>
          </a:xfrm>
          <a:prstGeom prst="roundRect">
            <a:avLst>
              <a:gd name="adj" fmla="val 17021"/>
            </a:avLst>
          </a:prstGeom>
          <a:solidFill>
            <a:srgbClr val="FFF3F3"/>
          </a:solidFill>
          <a:ln w="7620">
            <a:solidFill>
              <a:srgbClr val="EFC7C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1051560" y="5577840"/>
            <a:ext cx="5321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18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结论：KV 元数据模型 + DeltaOp 在共享父目录高并发元数据写入场景下具有可行性。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华中科技大学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采用元数据键值对存储的文件操作设计与实现</dc:title>
  <dc:subject>毕业设计答辩</dc:subject>
  <dc:creator>崔顺杰</dc:creator>
  <cp:lastModifiedBy>崔顺杰</cp:lastModifiedBy>
  <cp:revision>1</cp:revision>
  <dcterms:created xsi:type="dcterms:W3CDTF">2026-05-12T08:46:04Z</dcterms:created>
  <dcterms:modified xsi:type="dcterms:W3CDTF">2026-05-12T08:46:04Z</dcterms:modified>
</cp:coreProperties>
</file>